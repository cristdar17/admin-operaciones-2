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07950" cy="5143500"/>
          </a:xfrm>
          <a:prstGeom prst="rect">
            <a:avLst/>
          </a:prstGeom>
          <a:solidFill>
            <a:srgbClr val="FC99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269950" y="1647974"/>
            <a:ext cx="5147849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4800" b="1" dirty="0">
                <a:solidFill>
                  <a:srgbClr val="FC9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 en Acción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269950" y="2479774"/>
            <a:ext cx="514784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Juegos para pensar como optimizadores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69950" y="3108275"/>
            <a:ext cx="514784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Administración de Operaciones 2 • Semana 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FC99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6669" y="1765250"/>
            <a:ext cx="8290661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2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¿Cuántas decisiones tomaste hoy antes de llegar a clase?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972953" y="2698700"/>
            <a:ext cx="51979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desayunar, qué ropa, qué ruta, si venir o no...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45791" y="3155900"/>
            <a:ext cx="365226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9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Todas se pueden optimizar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326880" cy="669875"/>
          </a:xfrm>
          <a:prstGeom prst="rect">
            <a:avLst/>
          </a:prstGeom>
          <a:noFill/>
          <a:ln/>
        </p:spPr>
        <p:txBody>
          <a:bodyPr wrap="square" lIns="508000" tIns="31750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 en 30 segundos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7950" y="746075"/>
            <a:ext cx="8128099" cy="593527"/>
          </a:xfrm>
          <a:prstGeom prst="roundRect">
            <a:avLst>
              <a:gd name="adj" fmla="val 17118"/>
            </a:avLst>
          </a:prstGeom>
          <a:solidFill>
            <a:srgbClr val="667C6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5651" y="923776"/>
            <a:ext cx="792815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Función Objetivo → Maximizar o minimizar algo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1492002"/>
            <a:ext cx="8128099" cy="593527"/>
          </a:xfrm>
          <a:prstGeom prst="roundRect">
            <a:avLst>
              <a:gd name="adj" fmla="val 17118"/>
            </a:avLst>
          </a:prstGeom>
          <a:solidFill>
            <a:srgbClr val="667C6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651" y="1669703"/>
            <a:ext cx="792815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de Decisión → Lo que controlamos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7950" y="2237929"/>
            <a:ext cx="8128099" cy="593527"/>
          </a:xfrm>
          <a:prstGeom prst="roundRect">
            <a:avLst>
              <a:gd name="adj" fmla="val 17118"/>
            </a:avLst>
          </a:prstGeom>
          <a:solidFill>
            <a:srgbClr val="667C6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85651" y="2415629"/>
            <a:ext cx="792815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Restricciones → Los límites de la realidad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1745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FC9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Preparación (2 minutos)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50" y="917525"/>
            <a:ext cx="829066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Necesito 3 voluntarios: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7950" y="1339751"/>
            <a:ext cx="8128099" cy="917377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Arrancar 10 hojas de cuaderno y partirlas en 4 pedazos cada una (40 papelitos)</a:t>
            </a:r>
            <a:endParaRPr lang="en-US" sz="160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Escribir en el tablero: EQUIPO A | EQUIPO B | EQUIPO C (tabla de puntos)</a:t>
            </a:r>
            <a:endParaRPr lang="en-US" sz="160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demás: formen 3 equipos de ~5 personas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2447627"/>
            <a:ext cx="82906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C9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necesitan: hojas de cuaderno, lapiceros y ganas de ganar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99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43052" y="1916162"/>
            <a:ext cx="12829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JUEGO 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450157" y="2309813"/>
            <a:ext cx="4328559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36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Mercado de la 21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354610" y="2960638"/>
            <a:ext cx="45233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Simulación de compra y venta en la Galería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326880" cy="860375"/>
          </a:xfrm>
          <a:prstGeom prst="rect">
            <a:avLst/>
          </a:prstGeom>
          <a:noFill/>
          <a:ln/>
        </p:spPr>
        <p:txBody>
          <a:bodyPr wrap="square" lIns="508000" tIns="317500" rIns="508000" bIns="19050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C9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Escenario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7950" y="860375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 las 5 AM en la Galería Central de Pereira.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7950" y="1279475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equipo tiene un puesto y $500.000 COP para invertir en frutas.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1698575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objetivo: comprar para revender y ganar lo máximo posible.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7950" y="2117675"/>
            <a:ext cx="82906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67C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Pero hay límites de espacio, tiempo y plata...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326880" cy="860375"/>
          </a:xfrm>
          <a:prstGeom prst="rect">
            <a:avLst/>
          </a:prstGeom>
          <a:noFill/>
          <a:ln/>
        </p:spPr>
        <p:txBody>
          <a:bodyPr wrap="square" lIns="508000" tIns="317500" rIns="508000" bIns="19050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C9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Productos Disponibles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7950" y="923776"/>
            <a:ext cx="8128099" cy="803225"/>
          </a:xfrm>
          <a:prstGeom prst="roundRect">
            <a:avLst>
              <a:gd name="adj" fmla="val 9487"/>
            </a:avLst>
          </a:prstGeom>
          <a:solidFill>
            <a:srgbClr val="3A3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6050" y="923776"/>
            <a:ext cx="0" cy="803225"/>
          </a:xfrm>
          <a:prstGeom prst="line">
            <a:avLst/>
          </a:prstGeom>
          <a:noFill/>
          <a:ln w="76200">
            <a:solidFill>
              <a:srgbClr val="70AD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7301" y="1076176"/>
            <a:ext cx="779851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AGUACATE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87301" y="1365052"/>
            <a:ext cx="77985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Costo: $2.000 | Venta: $3.500 | Ganancia: $1.500 | Espacio: 2 uds | Tiempo: 3 min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7950" y="1853803"/>
            <a:ext cx="8128099" cy="803225"/>
          </a:xfrm>
          <a:prstGeom prst="roundRect">
            <a:avLst>
              <a:gd name="adj" fmla="val 9487"/>
            </a:avLst>
          </a:prstGeom>
          <a:solidFill>
            <a:srgbClr val="3A3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46050" y="1853803"/>
            <a:ext cx="0" cy="803225"/>
          </a:xfrm>
          <a:prstGeom prst="line">
            <a:avLst/>
          </a:prstGeom>
          <a:noFill/>
          <a:ln w="76200">
            <a:solidFill>
              <a:srgbClr val="FC99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7301" y="2006203"/>
            <a:ext cx="779851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C9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7301" y="2295079"/>
            <a:ext cx="77985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Costo: $1.000 | Venta: $2.000 | Ganancia: $1.000 | Espacio: 1 ud | Tiempo: 2 min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7950" y="2783830"/>
            <a:ext cx="8128099" cy="803225"/>
          </a:xfrm>
          <a:prstGeom prst="roundRect">
            <a:avLst>
              <a:gd name="adj" fmla="val 9487"/>
            </a:avLst>
          </a:prstGeom>
          <a:solidFill>
            <a:srgbClr val="3A3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46050" y="2783830"/>
            <a:ext cx="0" cy="803225"/>
          </a:xfrm>
          <a:prstGeom prst="line">
            <a:avLst/>
          </a:prstGeom>
          <a:noFill/>
          <a:ln w="76200">
            <a:solidFill>
              <a:srgbClr val="F1C40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7301" y="2936230"/>
            <a:ext cx="779851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PLÁTANO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87301" y="3225105"/>
            <a:ext cx="77985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Costo: $800 | Venta: $1.500 | Ganancia: $700 | Espacio: 1 ud | Tiempo: 1 min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326880" cy="860375"/>
          </a:xfrm>
          <a:prstGeom prst="rect">
            <a:avLst/>
          </a:prstGeom>
          <a:noFill/>
          <a:ln/>
        </p:spPr>
        <p:txBody>
          <a:bodyPr wrap="square" lIns="508000" tIns="317500" rIns="508000" bIns="19050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Restricciones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7950" y="923776"/>
            <a:ext cx="8128099" cy="609600"/>
          </a:xfrm>
          <a:prstGeom prst="roundRect">
            <a:avLst>
              <a:gd name="adj" fmla="val 12500"/>
            </a:avLst>
          </a:prstGeom>
          <a:solidFill>
            <a:srgbClr val="FCFCFC"/>
          </a:solidFill>
          <a:ln w="19050">
            <a:solidFill>
              <a:srgbClr val="DDDD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80901" y="1095226"/>
            <a:ext cx="77338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Presupuesto: $500.000 COP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1660178"/>
            <a:ext cx="8128099" cy="609600"/>
          </a:xfrm>
          <a:prstGeom prst="roundRect">
            <a:avLst>
              <a:gd name="adj" fmla="val 12500"/>
            </a:avLst>
          </a:prstGeom>
          <a:solidFill>
            <a:srgbClr val="FCFCFC"/>
          </a:solidFill>
          <a:ln w="19050">
            <a:solidFill>
              <a:srgbClr val="DDDD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80901" y="1831628"/>
            <a:ext cx="77338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Espacio en puesto: 400 unidades (aguacate ocupa 2, el resto 1)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7950" y="2396579"/>
            <a:ext cx="8128099" cy="609600"/>
          </a:xfrm>
          <a:prstGeom prst="roundRect">
            <a:avLst>
              <a:gd name="adj" fmla="val 12500"/>
            </a:avLst>
          </a:prstGeom>
          <a:solidFill>
            <a:srgbClr val="FCFCFC"/>
          </a:solidFill>
          <a:ln w="19050">
            <a:solidFill>
              <a:srgbClr val="DDDD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80901" y="2568029"/>
            <a:ext cx="77338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de venta: 480 minutos (8 horas)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7950" y="3132981"/>
            <a:ext cx="8128099" cy="581025"/>
          </a:xfrm>
          <a:prstGeom prst="roundRect">
            <a:avLst>
              <a:gd name="adj" fmla="val 13115"/>
            </a:avLst>
          </a:prstGeom>
          <a:solidFill>
            <a:srgbClr val="FCFCFC"/>
          </a:solidFill>
          <a:ln w="19050">
            <a:solidFill>
              <a:srgbClr val="DDDD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80901" y="3304431"/>
            <a:ext cx="773384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 pueden comprar cantidades negativas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326880" cy="917525"/>
          </a:xfrm>
          <a:prstGeom prst="rect">
            <a:avLst/>
          </a:prstGeom>
          <a:noFill/>
          <a:ln/>
        </p:spPr>
        <p:txBody>
          <a:bodyPr wrap="square" lIns="508000" tIns="317500" rIns="508000" bIns="19050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C9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se juega?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0" y="917525"/>
            <a:ext cx="9144000" cy="2139851"/>
          </a:xfrm>
          <a:prstGeom prst="rect">
            <a:avLst/>
          </a:prstGeom>
          <a:noFill/>
          <a:ln/>
        </p:spPr>
        <p:txBody>
          <a:bodyPr wrap="square" lIns="381000" tIns="0" rIns="0" bIns="0" rtlCol="0" anchor="t"/>
          <a:lstStyle/>
          <a:p>
            <a:pPr algn="l" marL="381000" indent="-3810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equipo tiene 8 MINUTOS</a:t>
            </a:r>
            <a:endParaRPr lang="en-US" sz="1600" dirty="0"/>
          </a:p>
          <a:p>
            <a:pPr algn="l" marL="381000" indent="-3810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Decidan cuántos aguacates, mangos y plátanos comprar</a:t>
            </a:r>
            <a:endParaRPr lang="en-US" sz="1600" dirty="0"/>
          </a:p>
          <a:p>
            <a:pPr algn="l" marL="381000" indent="-3810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Escriban su decisión en un papel: 'X aguacates, Y mangos, Z plátanos'</a:t>
            </a:r>
            <a:endParaRPr lang="en-US" sz="1600" dirty="0"/>
          </a:p>
          <a:p>
            <a:pPr algn="l" marL="381000" indent="-3810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Verifiquen que NO se pasen de presupuesto, espacio NI tiempo</a:t>
            </a:r>
            <a:endParaRPr lang="en-US" sz="1600" dirty="0"/>
          </a:p>
          <a:p>
            <a:pPr algn="l" marL="381000" indent="-3810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Calculen su GANANCIA TOTAL</a:t>
            </a:r>
            <a:endParaRPr lang="en-US" sz="1600" dirty="0"/>
          </a:p>
          <a:p>
            <a:pPr algn="l" marL="381000" indent="-3810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equipo con más ganancia (sin violar restricciones) GANA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3057376"/>
            <a:ext cx="9326880" cy="238125"/>
          </a:xfrm>
          <a:prstGeom prst="rect">
            <a:avLst/>
          </a:prstGeom>
          <a:noFill/>
          <a:ln/>
        </p:spPr>
        <p:txBody>
          <a:bodyPr wrap="square" lIns="508000" tIns="0" rIns="50800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C9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OJO: Si se pasan de alguna restricción, quedan DESCALIFICADOS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326880" cy="676126"/>
          </a:xfrm>
          <a:prstGeom prst="rect">
            <a:avLst/>
          </a:prstGeom>
          <a:noFill/>
          <a:ln/>
        </p:spPr>
        <p:txBody>
          <a:bodyPr wrap="square" lIns="508000" tIns="254000" rIns="508000" bIns="12700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Hoja de Trabajo - Copien esto en su papel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7950" y="676126"/>
            <a:ext cx="8128099" cy="3073152"/>
          </a:xfrm>
          <a:prstGeom prst="roundRect">
            <a:avLst>
              <a:gd name="adj" fmla="val 3306"/>
            </a:avLst>
          </a:prstGeom>
          <a:noFill/>
          <a:ln w="19050">
            <a:solidFill>
              <a:srgbClr val="2C2C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30151" y="898327"/>
            <a:ext cx="78373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Equipo: _______________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0151" y="1263402"/>
            <a:ext cx="783737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Aguacates: _____ x $2.000 = $_______ (espacio: ___ x2 = ___)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0151" y="1549152"/>
            <a:ext cx="783737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Mangos: _____ x $1.000 = $_______ (espacio: ___ x1 = ___)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0151" y="1834902"/>
            <a:ext cx="783737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Plátanos: _____ x $800 = $_______ (espacio: ___ x1 = ___)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0151" y="2180927"/>
            <a:ext cx="7683698" cy="0"/>
          </a:xfrm>
          <a:prstGeom prst="line">
            <a:avLst/>
          </a:prstGeom>
          <a:noFill/>
          <a:ln w="19050">
            <a:solidFill>
              <a:srgbClr val="2C2C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0151" y="2317403"/>
            <a:ext cx="78373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gastado: $_______ / $500.000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0151" y="2631728"/>
            <a:ext cx="78373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espacio: _______ / 400 uds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0151" y="2946053"/>
            <a:ext cx="78373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tiempo: _______ / 480 min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0151" y="3260378"/>
            <a:ext cx="78373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C9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GANANCIA = $______________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99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32697" y="1793825"/>
            <a:ext cx="3878458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42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¡A OPTIMIZAR!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3180862" y="2603450"/>
            <a:ext cx="278227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minutos en el reloj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866235" y="3082826"/>
            <a:ext cx="54113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Recuerden: más ganancia = mejor, pero sin pasarse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326880" cy="917525"/>
          </a:xfrm>
          <a:prstGeom prst="rect">
            <a:avLst/>
          </a:prstGeom>
          <a:noFill/>
          <a:ln/>
        </p:spPr>
        <p:txBody>
          <a:bodyPr wrap="square" lIns="508000" tIns="317500" rIns="508000" bIns="19050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Momento de verdad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0" y="917525"/>
            <a:ext cx="9326880" cy="422225"/>
          </a:xfrm>
          <a:prstGeom prst="rect">
            <a:avLst/>
          </a:prstGeom>
          <a:noFill/>
          <a:ln/>
        </p:spPr>
        <p:txBody>
          <a:bodyPr wrap="square" lIns="508000" tIns="0" rIns="508000" bIns="12700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equipo lee su decisión en voz alta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0" y="1339751"/>
            <a:ext cx="9144000" cy="1257300"/>
          </a:xfrm>
          <a:prstGeom prst="rect">
            <a:avLst/>
          </a:prstGeom>
          <a:noFill/>
          <a:ln/>
        </p:spPr>
        <p:txBody>
          <a:bodyPr wrap="square" lIns="381000" tIns="0" rIns="0" bIns="0" rtlCol="0" anchor="t"/>
          <a:lstStyle/>
          <a:p>
            <a:pPr algn="l" marL="381000" indent="-3810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Lean: cuántos de cada producto compraron</a:t>
            </a:r>
            <a:endParaRPr lang="en-US" sz="1600" dirty="0"/>
          </a:p>
          <a:p>
            <a:pPr algn="l" marL="381000" indent="-3810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DEMÁS equipos verifican si cumple restricciones</a:t>
            </a:r>
            <a:endParaRPr lang="en-US" sz="1600" dirty="0"/>
          </a:p>
          <a:p>
            <a:pPr algn="l" marL="381000" indent="-3810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alguna restricción se viola → DESCALIFICADOS</a:t>
            </a:r>
            <a:endParaRPr lang="en-US" sz="1600" dirty="0"/>
          </a:p>
          <a:p>
            <a:pPr algn="l" marL="381000" indent="-3810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equipo válido con más ganancia gana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2597051"/>
            <a:ext cx="9326880" cy="492026"/>
          </a:xfrm>
          <a:prstGeom prst="rect">
            <a:avLst/>
          </a:prstGeom>
          <a:noFill/>
          <a:ln/>
        </p:spPr>
        <p:txBody>
          <a:bodyPr wrap="square" lIns="508000" tIns="127000" rIns="508000" bIns="12700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C9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Premio: 10 pts al primero, 7 al segundo, 5 al tercero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326880" cy="917525"/>
          </a:xfrm>
          <a:prstGeom prst="rect">
            <a:avLst/>
          </a:prstGeom>
          <a:noFill/>
          <a:ln/>
        </p:spPr>
        <p:txBody>
          <a:bodyPr wrap="square" lIns="508000" tIns="317500" rIns="508000" bIns="19050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C9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Ahora: Formalicen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0" y="917525"/>
            <a:ext cx="9326880" cy="422225"/>
          </a:xfrm>
          <a:prstGeom prst="rect">
            <a:avLst/>
          </a:prstGeom>
          <a:noFill/>
          <a:ln/>
        </p:spPr>
        <p:txBody>
          <a:bodyPr wrap="square" lIns="508000" tIns="0" rIns="508000" bIns="12700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acaban de hacer a ojo... es PL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0" y="1339751"/>
            <a:ext cx="9326880" cy="393650"/>
          </a:xfrm>
          <a:prstGeom prst="rect">
            <a:avLst/>
          </a:prstGeom>
          <a:noFill/>
          <a:ln/>
        </p:spPr>
        <p:txBody>
          <a:bodyPr wrap="square" lIns="508000" tIns="0" rIns="508000" bIns="12700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Escriban en 3 minutos: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1733401"/>
            <a:ext cx="9144000" cy="1104602"/>
          </a:xfrm>
          <a:prstGeom prst="rect">
            <a:avLst/>
          </a:prstGeom>
          <a:noFill/>
          <a:ln/>
        </p:spPr>
        <p:txBody>
          <a:bodyPr wrap="square" lIns="381000" tIns="0" rIns="0" bIns="0" rtlCol="0" anchor="t"/>
          <a:lstStyle/>
          <a:p>
            <a:pPr algn="l" marL="381000" indent="-381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¿Cuáles son las VARIABLES?</a:t>
            </a:r>
            <a:endParaRPr lang="en-US" sz="1800" dirty="0"/>
          </a:p>
          <a:p>
            <a:pPr algn="l" marL="381000" indent="-381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¿Cuál es la FUNCIÓN OBJETIVO?</a:t>
            </a:r>
            <a:endParaRPr lang="en-US" sz="1800" dirty="0"/>
          </a:p>
          <a:p>
            <a:pPr algn="l" marL="381000" indent="-381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¿Cuáles son las RESTRICCIONES?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2838004"/>
            <a:ext cx="9326880" cy="492026"/>
          </a:xfrm>
          <a:prstGeom prst="rect">
            <a:avLst/>
          </a:prstGeom>
          <a:noFill/>
          <a:ln/>
        </p:spPr>
        <p:txBody>
          <a:bodyPr wrap="square" lIns="508000" tIns="127000" rIns="508000" bIns="12700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C9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 pts bonus al equipo que lo escriba correctamente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326880" cy="733276"/>
          </a:xfrm>
          <a:prstGeom prst="rect">
            <a:avLst/>
          </a:prstGeom>
          <a:noFill/>
          <a:ln/>
        </p:spPr>
        <p:txBody>
          <a:bodyPr wrap="square" lIns="508000" tIns="254000" rIns="508000" bIns="12700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C9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Solución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31763" y="733276"/>
            <a:ext cx="0" cy="2038052"/>
          </a:xfrm>
          <a:prstGeom prst="line">
            <a:avLst/>
          </a:prstGeom>
          <a:noFill/>
          <a:ln w="47625">
            <a:solidFill>
              <a:srgbClr val="667C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9476" y="860227"/>
            <a:ext cx="772412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Variables: x₁ = aguacates, x₂ = mangos, x₃ = plátanos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9476" y="1180802"/>
            <a:ext cx="772412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FC9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Z = 1.500x₁ + 1.000x₂ + 700x₃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09476" y="1539478"/>
            <a:ext cx="772412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2.000x₁ + 1.000x₂ + 800x₃ ≤ 500.000 (presupuesto)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9476" y="1834753"/>
            <a:ext cx="772412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2x₁ + x₂ + x₃ ≤ 400 (espacio)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9476" y="2130028"/>
            <a:ext cx="772412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3x₁ + 2x₂ + x₃ ≤ 480 (tiempo)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9476" y="2425303"/>
            <a:ext cx="772412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x₁, x₂, x₃ ≥ 0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0" y="2771329"/>
            <a:ext cx="9326880" cy="520601"/>
          </a:xfrm>
          <a:prstGeom prst="rect">
            <a:avLst/>
          </a:prstGeom>
          <a:noFill/>
          <a:ln/>
        </p:spPr>
        <p:txBody>
          <a:bodyPr wrap="square" lIns="508000" tIns="127000" rIns="508000" bIns="12700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C9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¿Su intuición se acercó al óptimo?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667C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43052" y="1916162"/>
            <a:ext cx="12829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JUEGO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208609" y="2309813"/>
            <a:ext cx="4821317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36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Batalla de Escenarios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144613" y="2960638"/>
            <a:ext cx="49518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equipo modela un negocio real de Pereira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326880" cy="917525"/>
          </a:xfrm>
          <a:prstGeom prst="rect">
            <a:avLst/>
          </a:prstGeom>
          <a:noFill/>
          <a:ln/>
        </p:spPr>
        <p:txBody>
          <a:bodyPr wrap="square" lIns="508000" tIns="317500" rIns="508000" bIns="19050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funciona?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0" y="917525"/>
            <a:ext cx="9144000" cy="1885950"/>
          </a:xfrm>
          <a:prstGeom prst="rect">
            <a:avLst/>
          </a:prstGeom>
          <a:noFill/>
          <a:ln/>
        </p:spPr>
        <p:txBody>
          <a:bodyPr wrap="square" lIns="381000" tIns="0" rIns="0" bIns="0" rtlCol="0" anchor="t"/>
          <a:lstStyle/>
          <a:p>
            <a:pPr algn="l" marL="381000" indent="-3810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equipo recibe un escenario diferente (lo leen en el cel)</a:t>
            </a:r>
            <a:endParaRPr lang="en-US" sz="1600" dirty="0"/>
          </a:p>
          <a:p>
            <a:pPr algn="l" marL="381000" indent="-3810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Tienen 10 MINUTOS para escribir el modelo completo</a:t>
            </a:r>
            <a:endParaRPr lang="en-US" sz="1600" dirty="0"/>
          </a:p>
          <a:p>
            <a:pPr algn="l" marL="381000" indent="-3810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Variables, función objetivo y TODAS las restricciones</a:t>
            </a:r>
            <a:endParaRPr lang="en-US" sz="1600" dirty="0"/>
          </a:p>
          <a:p>
            <a:pPr algn="l" marL="381000" indent="-3810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terminen, pasan su hoja al equipo de la derecha</a:t>
            </a:r>
            <a:endParaRPr lang="en-US" sz="1600" dirty="0"/>
          </a:p>
          <a:p>
            <a:pPr algn="l" marL="381000" indent="-3810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otro equipo REVISA si el modelo está bien</a:t>
            </a:r>
            <a:endParaRPr lang="en-US" sz="1600" dirty="0"/>
          </a:p>
          <a:p>
            <a:pPr algn="l" marL="381000" indent="-3810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encuentran un error, lo marcan y devuelven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2803475"/>
            <a:ext cx="9326880" cy="492026"/>
          </a:xfrm>
          <a:prstGeom prst="rect">
            <a:avLst/>
          </a:prstGeom>
          <a:noFill/>
          <a:ln/>
        </p:spPr>
        <p:txBody>
          <a:bodyPr wrap="square" lIns="508000" tIns="127000" rIns="508000" bIns="12700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C9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primer equipo en tener modelo CORRECTO (validado por otro equipo) gana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" y="0"/>
            <a:ext cx="0" cy="5143500"/>
          </a:xfrm>
          <a:prstGeom prst="line">
            <a:avLst/>
          </a:prstGeom>
          <a:noFill/>
          <a:ln w="95250">
            <a:solidFill>
              <a:srgbClr val="70AD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200" y="317450"/>
            <a:ext cx="819350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Escenario A: Juan's Café - Centro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3200" y="768251"/>
            <a:ext cx="819350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Tienda de café especial. Compra grano y hace mezclas.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3200" y="1133326"/>
            <a:ext cx="8032849" cy="1298377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Grano Supremo: $25.000/kg</a:t>
            </a:r>
            <a:endParaRPr lang="en-US" sz="1500" dirty="0"/>
          </a:p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Grano Excelso: $18.000/kg</a:t>
            </a:r>
            <a:endParaRPr lang="en-US" sz="1500" dirty="0"/>
          </a:p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Grano Pasilla: $8.000/kg</a:t>
            </a:r>
            <a:endParaRPr lang="en-US" sz="1500" dirty="0"/>
          </a:p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Mezcla Premium (60% Supremo + 40% Excelso): venta $35.000/kg</a:t>
            </a:r>
            <a:endParaRPr lang="en-US" sz="1500" dirty="0"/>
          </a:p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Mezcla Clásica (50% Excelso + 50% Pasilla): venta $20.000/kg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3200" y="2568178"/>
            <a:ext cx="8032849" cy="0"/>
          </a:xfrm>
          <a:prstGeom prst="line">
            <a:avLst/>
          </a:prstGeom>
          <a:noFill/>
          <a:ln w="1905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200" y="2704654"/>
            <a:ext cx="819350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Presupuesto: $2.000.000 | Espacio: 150 kg | Demanda máx: 80 kg Premium, 100 kg Clásica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" y="0"/>
            <a:ext cx="0" cy="5143500"/>
          </a:xfrm>
          <a:prstGeom prst="line">
            <a:avLst/>
          </a:prstGeom>
          <a:noFill/>
          <a:ln w="95250">
            <a:solidFill>
              <a:srgbClr val="3498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200" y="317450"/>
            <a:ext cx="819350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Escenario B: Rutas de Megabús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3200" y="768251"/>
            <a:ext cx="819350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Asignar 10 buses disponibles a 3 rutas.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3200" y="1133326"/>
            <a:ext cx="8032849" cy="758726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 Cuba: ingreso $800.000/día/bus, necesita 2 conductores</a:t>
            </a:r>
            <a:endParaRPr lang="en-US" sz="1500" dirty="0"/>
          </a:p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 Dosquebradas: $650.000/día/bus, necesita 2 conductores</a:t>
            </a:r>
            <a:endParaRPr lang="en-US" sz="1500" dirty="0"/>
          </a:p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 Universidad: $900.000/día/bus, necesita 3 conductores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3200" y="2028527"/>
            <a:ext cx="8032849" cy="0"/>
          </a:xfrm>
          <a:prstGeom prst="line">
            <a:avLst/>
          </a:prstGeom>
          <a:noFill/>
          <a:ln w="1905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200" y="2165003"/>
            <a:ext cx="819350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Mínimo 2 buses por ruta | 25 conductores disponibles | Maximizar ingresos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" y="0"/>
            <a:ext cx="0" cy="5143500"/>
          </a:xfrm>
          <a:prstGeom prst="line">
            <a:avLst/>
          </a:prstGeom>
          <a:noFill/>
          <a:ln w="95250">
            <a:solidFill>
              <a:srgbClr val="9B59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200" y="317450"/>
            <a:ext cx="819350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Escenario C: Tienda en Arboleda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3200" y="768251"/>
            <a:ext cx="819350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Tienda de ropa preparando inventario para temporada alta.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3200" y="1133326"/>
            <a:ext cx="8032849" cy="758726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Camisetas: costo $15.000, venta $32.000 (ganancia $17.000)</a:t>
            </a:r>
            <a:endParaRPr lang="en-US" sz="1500" dirty="0"/>
          </a:p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Jeans: costo $35.000, venta $75.000 (ganancia $40.000)</a:t>
            </a:r>
            <a:endParaRPr lang="en-US" sz="1500" dirty="0"/>
          </a:p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Chaquetas: costo $50.000, venta $120.000 (ganancia $70.000)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3200" y="2028527"/>
            <a:ext cx="8032849" cy="0"/>
          </a:xfrm>
          <a:prstGeom prst="line">
            <a:avLst/>
          </a:prstGeom>
          <a:noFill/>
          <a:ln w="1905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200" y="2165003"/>
            <a:ext cx="819350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Presupuesto: $5.000.000 | Bodega: 300 uds | Máx: 150 camisetas, 100 jeans, 50 chaquetas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" y="0"/>
            <a:ext cx="0" cy="5143500"/>
          </a:xfrm>
          <a:prstGeom prst="line">
            <a:avLst/>
          </a:prstGeom>
          <a:noFill/>
          <a:ln w="95250">
            <a:solidFill>
              <a:srgbClr val="E74C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200" y="317450"/>
            <a:ext cx="819350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Escenario D: Food Truck en la Circunvalar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3200" y="768251"/>
            <a:ext cx="819350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truck cerca de la UTP. Decide qué preparar cada día.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3200" y="1133326"/>
            <a:ext cx="8032849" cy="758726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Hamburguesa: costo $4.000, venta $12.000, 5 min preparar</a:t>
            </a:r>
            <a:endParaRPr lang="en-US" sz="1500" dirty="0"/>
          </a:p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Perro caliente: costo $2.500, venta $8.000, 3 min preparar</a:t>
            </a:r>
            <a:endParaRPr lang="en-US" sz="1500" dirty="0"/>
          </a:p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Arepa rellena: costo $2.000, venta $6.000, 2 min preparar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3200" y="2028527"/>
            <a:ext cx="8032849" cy="0"/>
          </a:xfrm>
          <a:prstGeom prst="line">
            <a:avLst/>
          </a:prstGeom>
          <a:noFill/>
          <a:ln w="1905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200" y="2165003"/>
            <a:ext cx="819350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Presupuesto: $300.000/día | Máx 120 productos | Jornada: 8 horas (480 min)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FC99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949452" y="1916162"/>
            <a:ext cx="126984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JUEGO 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463105" y="2309813"/>
            <a:ext cx="4302145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3600" b="1" dirty="0">
                <a:solidFill>
                  <a:srgbClr val="FC9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Cadena del Café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665809" y="2960638"/>
            <a:ext cx="388862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Negociación en cadena de suministro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5067300"/>
            <a:ext cx="9144000" cy="76200"/>
          </a:xfrm>
          <a:prstGeom prst="rect">
            <a:avLst/>
          </a:prstGeom>
          <a:solidFill>
            <a:srgbClr val="667C6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326880" cy="733276"/>
          </a:xfrm>
          <a:prstGeom prst="rect">
            <a:avLst/>
          </a:prstGeom>
          <a:noFill/>
          <a:ln/>
        </p:spPr>
        <p:txBody>
          <a:bodyPr wrap="square" lIns="508000" tIns="254000" rIns="508000" bIns="12700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Preparación rápida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0" y="733276"/>
            <a:ext cx="9144000" cy="1257300"/>
          </a:xfrm>
          <a:prstGeom prst="rect">
            <a:avLst/>
          </a:prstGeom>
          <a:noFill/>
          <a:ln/>
        </p:spPr>
        <p:txBody>
          <a:bodyPr wrap="square" lIns="381000" tIns="0" rIns="0" bIns="0" rtlCol="0" anchor="t"/>
          <a:lstStyle/>
          <a:p>
            <a:pPr algn="l" marL="381000" indent="-3810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Dividan los 3 equipos en nuevos roles: FINCA, TOSTADORA, TIENDA</a:t>
            </a:r>
            <a:endParaRPr lang="en-US" sz="1600" dirty="0"/>
          </a:p>
          <a:p>
            <a:pPr algn="l" marL="381000" indent="-3810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grupo va a una esquina del salón</a:t>
            </a:r>
            <a:endParaRPr lang="en-US" sz="1600" dirty="0"/>
          </a:p>
          <a:p>
            <a:pPr algn="l" marL="381000" indent="-3810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grupo arranca una hoja y la parte en 20 pedacitos (son 'kilos de café')</a:t>
            </a:r>
            <a:endParaRPr lang="en-US" sz="1600" dirty="0"/>
          </a:p>
          <a:p>
            <a:pPr algn="l" marL="381000" indent="-3810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grupo necesita otra hoja como REGISTRO de transacciones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7950" y="2117527"/>
            <a:ext cx="8128099" cy="1136452"/>
          </a:xfrm>
          <a:prstGeom prst="roundRect">
            <a:avLst>
              <a:gd name="adj" fmla="val 6705"/>
            </a:avLst>
          </a:prstGeom>
          <a:solidFill>
            <a:srgbClr val="FC99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1851" y="2295227"/>
            <a:ext cx="777270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FINCA: tiene 20 kilos (papelitos) por ronda. Costo producir: $5.000/kg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1851" y="2580977"/>
            <a:ext cx="777270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TOSTADORA: compra grano, tuesta. Costo tostar: $3.000/kg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1851" y="2866727"/>
            <a:ext cx="777270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TIENDA: vende al final. Precio local: $18.000/kg | Export: $22.000/kg (máx 5 kg)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326880" cy="917525"/>
          </a:xfrm>
          <a:prstGeom prst="rect">
            <a:avLst/>
          </a:prstGeom>
          <a:noFill/>
          <a:ln/>
        </p:spPr>
        <p:txBody>
          <a:bodyPr wrap="square" lIns="508000" tIns="317500" rIns="508000" bIns="19050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C9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de Negociación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0" y="917525"/>
            <a:ext cx="9144000" cy="2110680"/>
          </a:xfrm>
          <a:prstGeom prst="rect">
            <a:avLst/>
          </a:prstGeom>
          <a:noFill/>
          <a:ln/>
        </p:spPr>
        <p:txBody>
          <a:bodyPr wrap="square" lIns="381000" tIns="0" rIns="0" bIns="0" rtlCol="0" anchor="t"/>
          <a:lstStyle/>
          <a:p>
            <a:pPr algn="l" marL="381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Hay 3 rondas de 3 minutos</a:t>
            </a:r>
            <a:endParaRPr lang="en-US" sz="1600" dirty="0"/>
          </a:p>
          <a:p>
            <a:pPr algn="l" marL="381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negociar, UN miembro camina a la otra estación</a:t>
            </a:r>
            <a:endParaRPr lang="en-US" sz="1600" dirty="0"/>
          </a:p>
          <a:p>
            <a:pPr algn="l" marL="381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Negocian precio y cantidad EN PERSONA</a:t>
            </a:r>
            <a:endParaRPr lang="en-US" sz="1600" dirty="0"/>
          </a:p>
          <a:p>
            <a:pPr algn="l" marL="381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Anotan cada transacción en su hoja de registro</a:t>
            </a:r>
            <a:endParaRPr lang="en-US" sz="1600" dirty="0"/>
          </a:p>
          <a:p>
            <a:pPr algn="l" marL="381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papelitos (kg) pasan de mano en mano físicamente</a:t>
            </a:r>
            <a:endParaRPr lang="en-US" sz="1600" dirty="0"/>
          </a:p>
          <a:p>
            <a:pPr algn="l" marL="381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Tostadora SOLO puede vender lo que ya compró a la Finca</a:t>
            </a:r>
            <a:endParaRPr lang="en-US" sz="1600" dirty="0"/>
          </a:p>
          <a:p>
            <a:pPr algn="l" marL="381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final: cada estación suma ingresos - costos = GANANCIA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3028206"/>
            <a:ext cx="9326880" cy="492026"/>
          </a:xfrm>
          <a:prstGeom prst="rect">
            <a:avLst/>
          </a:prstGeom>
          <a:noFill/>
          <a:ln/>
        </p:spPr>
        <p:txBody>
          <a:bodyPr wrap="square" lIns="508000" tIns="127000" rIns="508000" bIns="12700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C9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estación con más ganancia gana 10 pts para su equipo original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326880" cy="733276"/>
          </a:xfrm>
          <a:prstGeom prst="rect">
            <a:avLst/>
          </a:prstGeom>
          <a:noFill/>
          <a:ln/>
        </p:spPr>
        <p:txBody>
          <a:bodyPr wrap="square" lIns="508000" tIns="254000" rIns="508000" bIns="12700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Reflexión Final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31763" y="796677"/>
            <a:ext cx="0" cy="492026"/>
          </a:xfrm>
          <a:prstGeom prst="line">
            <a:avLst/>
          </a:prstGeom>
          <a:noFill/>
          <a:ln w="47625">
            <a:solidFill>
              <a:srgbClr val="667C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58726" y="923627"/>
            <a:ext cx="782765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¿Cuál estación fue el cuello de botella?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31763" y="1415504"/>
            <a:ext cx="0" cy="492026"/>
          </a:xfrm>
          <a:prstGeom prst="line">
            <a:avLst/>
          </a:prstGeom>
          <a:noFill/>
          <a:ln w="47625">
            <a:solidFill>
              <a:srgbClr val="667C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726" y="1542455"/>
            <a:ext cx="782765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¿Habría sido mejor cooperar que competir en precio?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1763" y="2034332"/>
            <a:ext cx="0" cy="492026"/>
          </a:xfrm>
          <a:prstGeom prst="line">
            <a:avLst/>
          </a:prstGeom>
          <a:noFill/>
          <a:ln w="47625">
            <a:solidFill>
              <a:srgbClr val="667C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726" y="2161282"/>
            <a:ext cx="782765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se escribe esto como modelo de PL?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7950" y="2780258"/>
            <a:ext cx="8128099" cy="1244501"/>
          </a:xfrm>
          <a:prstGeom prst="roundRect">
            <a:avLst>
              <a:gd name="adj" fmla="val 8164"/>
            </a:avLst>
          </a:prstGeom>
          <a:solidFill>
            <a:srgbClr val="2C2C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61851" y="2983409"/>
            <a:ext cx="77727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C9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 clase: MODELOS DE TRANSPORTE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61851" y="3326309"/>
            <a:ext cx="777270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Vamos a resolver exactamente este tipo de problemas con matemáticas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61851" y="3612059"/>
            <a:ext cx="777270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problema es una oportunidad de optimizar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 en Acción - Semana 5 Clase 2</dc:title>
  <dc:subject>PptxGenJS Presentation</dc:subject>
  <dc:creator>Administración de Operaciones 2</dc:creator>
  <cp:lastModifiedBy>Administración de Operaciones 2</cp:lastModifiedBy>
  <cp:revision>1</cp:revision>
  <dcterms:created xsi:type="dcterms:W3CDTF">2026-03-05T22:52:58Z</dcterms:created>
  <dcterms:modified xsi:type="dcterms:W3CDTF">2026-03-05T22:52:58Z</dcterms:modified>
</cp:coreProperties>
</file>