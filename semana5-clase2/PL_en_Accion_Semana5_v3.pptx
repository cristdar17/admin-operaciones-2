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07950" cy="51435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69950" y="1647974"/>
            <a:ext cx="514784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 Acción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269950" y="2479774"/>
            <a:ext cx="514784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Juegos para pensar como optimizadores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69950" y="3108275"/>
            <a:ext cx="514784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00"/>
              </a:spcBef>
              <a:spcAft>
                <a:spcPts val="1400"/>
              </a:spcAft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Administración de Operaciones 2 • Semana 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6669" y="1765250"/>
            <a:ext cx="8290661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6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¿Cuántas decisiones tomaste hoy antes de llegar a clase?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972953" y="2698700"/>
            <a:ext cx="519794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desayunar, qué ropa, qué ruta, si venir o no...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5791" y="3155900"/>
            <a:ext cx="365226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se pueden optimizar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669875"/>
          </a:xfrm>
          <a:prstGeom prst="rect">
            <a:avLst/>
          </a:prstGeom>
          <a:noFill/>
          <a:ln/>
        </p:spPr>
        <p:txBody>
          <a:bodyPr wrap="square" lIns="508000" tIns="31750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en 30 segundos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746075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923776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Función Objetivo → Maximizar o minimizar algo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492002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651" y="1669703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Decisión → Lo que controlamos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237929"/>
            <a:ext cx="8128099" cy="593527"/>
          </a:xfrm>
          <a:prstGeom prst="roundRect">
            <a:avLst>
              <a:gd name="adj" fmla="val 17118"/>
            </a:avLst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651" y="2415629"/>
            <a:ext cx="792815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Restricciones → Los límites de la realidad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317450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(2 minutos)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7950" y="917525"/>
            <a:ext cx="829066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Necesito 3 voluntarios: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1339751"/>
            <a:ext cx="8128099" cy="917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Escribir en el tablero: EQUIPO A | EQUIPO B | EQUIPO C (tabla de puntos)</a:t>
            </a:r>
            <a:endParaRPr lang="en-US" sz="16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Formen 3 equipos de ~5 personas</a:t>
            </a:r>
            <a:endParaRPr lang="en-US" sz="1600" dirty="0"/>
          </a:p>
          <a:p>
            <a:pPr algn="l" marL="127000" indent="-1270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saca una hoja de cuaderno y un lapicero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2447627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necesitan: hojas de cuaderno, lapiceros y ganas de ganar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052" y="1916162"/>
            <a:ext cx="12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450157" y="2309813"/>
            <a:ext cx="4328559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Mercado de la 21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54610" y="2960638"/>
            <a:ext cx="45233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Simulación de compra y venta en la Galería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Escenario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8603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las 5 AM en la Galería Central de Pereira.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7950" y="12794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tiene un puesto y $500.000 COP para invertir en frutas.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98575"/>
            <a:ext cx="8290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objetivo: comprar para revender y ganar lo máximo posible.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50" y="2117675"/>
            <a:ext cx="82906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7C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Pero hay límites de espacio, tiempo y plata...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Disponibles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23776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46050" y="923776"/>
            <a:ext cx="0" cy="803225"/>
          </a:xfrm>
          <a:prstGeom prst="line">
            <a:avLst/>
          </a:prstGeom>
          <a:noFill/>
          <a:ln w="76200">
            <a:solidFill>
              <a:srgbClr val="70A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7301" y="1076176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AGUACATE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87301" y="1365052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$2.000 | Venta: $3.500 | Ganancia: $1.500 | Espacio: 2 uds | Tiempo: 3 min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7950" y="1853803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546050" y="1853803"/>
            <a:ext cx="0" cy="803225"/>
          </a:xfrm>
          <a:prstGeom prst="line">
            <a:avLst/>
          </a:prstGeom>
          <a:noFill/>
          <a:ln w="76200">
            <a:solidFill>
              <a:srgbClr val="FC99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7301" y="2006203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7301" y="2295079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$1.000 | Venta: $2.000 | Ganancia: $1.000 | Espacio: 1 ud | Tiempo: 2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7950" y="2783830"/>
            <a:ext cx="8128099" cy="803225"/>
          </a:xfrm>
          <a:prstGeom prst="roundRect">
            <a:avLst>
              <a:gd name="adj" fmla="val 9487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546050" y="2783830"/>
            <a:ext cx="0" cy="803225"/>
          </a:xfrm>
          <a:prstGeom prst="line">
            <a:avLst/>
          </a:prstGeom>
          <a:noFill/>
          <a:ln w="76200">
            <a:solidFill>
              <a:srgbClr val="F1C4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7301" y="2936230"/>
            <a:ext cx="77985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1C4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PLÁTANO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7301" y="3225105"/>
            <a:ext cx="779851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Costo: $800 | Venta: $1.500 | Ganancia: $700 | Espacio: 1 ud | Tiempo: 1 min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86037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Restricciones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7950" y="923776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0901" y="1095226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$500.000 COP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60178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0901" y="1831628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Espacio en puesto: 400 unidades (aguacate ocupa 2, el resto 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7950" y="2396579"/>
            <a:ext cx="8128099" cy="609600"/>
          </a:xfrm>
          <a:prstGeom prst="roundRect">
            <a:avLst>
              <a:gd name="adj" fmla="val 12500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80901" y="2568029"/>
            <a:ext cx="77338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de venta: 480 minutos (8 horas)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7950" y="3132981"/>
            <a:ext cx="8128099" cy="581025"/>
          </a:xfrm>
          <a:prstGeom prst="roundRect">
            <a:avLst>
              <a:gd name="adj" fmla="val 13115"/>
            </a:avLst>
          </a:prstGeom>
          <a:solidFill>
            <a:srgbClr val="FCFCFC"/>
          </a:solidFill>
          <a:ln w="19050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0901" y="3304431"/>
            <a:ext cx="773384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 pueden comprar cantidades negativas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juega?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2139851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tiene 8 MINUTOS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Decidan cuántos aguacates, mangos y plátanos comprar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su decisión en un papel: 'X aguacates, Y mangos, Z plátanos'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Verifiquen que NO se pasen de presupuesto, espacio NI tiempo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Calculen su GANANCIA TOTAL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con más ganancia (sin violar restricciones) GANA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057376"/>
            <a:ext cx="9326880" cy="238125"/>
          </a:xfrm>
          <a:prstGeom prst="rect">
            <a:avLst/>
          </a:prstGeom>
          <a:noFill/>
          <a:ln/>
        </p:spPr>
        <p:txBody>
          <a:bodyPr wrap="square" lIns="508000" tIns="0" rIns="50800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OJO: Si se pasan de alguna restricción, quedan DESCALIFICADOS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67612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de Trabajo - Copien esto en su papel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7950" y="676126"/>
            <a:ext cx="8128099" cy="3073152"/>
          </a:xfrm>
          <a:prstGeom prst="roundRect">
            <a:avLst>
              <a:gd name="adj" fmla="val 3306"/>
            </a:avLst>
          </a:prstGeom>
          <a:noFill/>
          <a:ln w="19050">
            <a:solidFill>
              <a:srgbClr val="2C2C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0151" y="898327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Equipo: _______________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0151" y="126340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Aguacates: _____ x $2.000 = $_______ (espacio: ___ x2 = ___)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0151" y="154915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Mangos: _____ x $1.000 = $_______ (espacio: ___ x1 = ___)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0151" y="1834902"/>
            <a:ext cx="783737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Plátanos: _____ x $800 = $_______ (espacio: ___ x1 = ___)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0151" y="2180927"/>
            <a:ext cx="7683698" cy="0"/>
          </a:xfrm>
          <a:prstGeom prst="line">
            <a:avLst/>
          </a:prstGeom>
          <a:noFill/>
          <a:ln w="19050">
            <a:solidFill>
              <a:srgbClr val="2C2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0151" y="2317403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gastado: $_______ / $500.000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0151" y="2631728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espacio: _______ / 400 uds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151" y="2946053"/>
            <a:ext cx="783737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tiempo: _______ / 480 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0151" y="3260378"/>
            <a:ext cx="7837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GANANCIA = $______________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99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32697" y="1793825"/>
            <a:ext cx="3878458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42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¡A OPTIMIZAR!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180862" y="2603450"/>
            <a:ext cx="278227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minutos en el reloj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66235" y="3082826"/>
            <a:ext cx="54113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Recuerden: más ganancia = mejor, pero sin pasarse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 de verdad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326880" cy="422225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lee su decisión en voz alta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1339751"/>
            <a:ext cx="9144000" cy="125730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Lean: cuántos de cada producto compraron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DEMÁS equipos verifican si cumple restricciones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alguna restricción se viola → DESCALIFICADOS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equipo válido con más ganancia gana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2597051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Premio: 10 pts al primero, 7 al segundo, 5 al tercero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Ahora: Formalicen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326880" cy="422225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acaban de hacer a ojo... es PL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1339751"/>
            <a:ext cx="9326880" cy="393650"/>
          </a:xfrm>
          <a:prstGeom prst="rect">
            <a:avLst/>
          </a:prstGeom>
          <a:noFill/>
          <a:ln/>
        </p:spPr>
        <p:txBody>
          <a:bodyPr wrap="square" lIns="508000" tIns="0" rIns="508000" bIns="12700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en 3 minutos: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1733401"/>
            <a:ext cx="9144000" cy="1104602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¿Cuáles son las VARIABLES?</a:t>
            </a:r>
            <a:endParaRPr lang="en-US" sz="1800" dirty="0"/>
          </a:p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la FUNCIÓN OBJETIVO?</a:t>
            </a:r>
            <a:endParaRPr lang="en-US" sz="1800" dirty="0"/>
          </a:p>
          <a:p>
            <a:pPr algn="l" marL="381000" indent="-3810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¿Cuáles son las RESTRICCIONES?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2838004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 pts bonus al equipo que lo escriba correctamente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1763" y="733276"/>
            <a:ext cx="0" cy="2038052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9476" y="860227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x₁ = aguacates, x₂ = mangos, x₃ = plátanos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09476" y="1180802"/>
            <a:ext cx="77241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Z = 1.500x₁ + 1.000x₂ + 700x₃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9476" y="1539478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2.000x₁ + 1.000x₂ + 800x₃ ≤ 500.000 (presupuesto)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9476" y="1834753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2x₁ + x₂ + x₃ ≤ 400 (espacio)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9476" y="2130028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3x₁ + 2x₂ + x₃ ≤ 480 (tiempo)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9476" y="2425303"/>
            <a:ext cx="77241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x₁, x₂, x₃ ≥ 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0" y="2771329"/>
            <a:ext cx="9326880" cy="520601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¿Su intuición se acercó al óptimo?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67C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43052" y="1916162"/>
            <a:ext cx="1282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208609" y="2309813"/>
            <a:ext cx="482131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Batalla de Escenarios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144613" y="2960638"/>
            <a:ext cx="49518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modela un negocio real de Pereira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188595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equipo recibe un escenario diferente (lo leen en el cel)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Tienen 10 MINUTOS para escribir el modelo completo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Variables, función objetivo y TODAS las restricciones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terminen, pasan su hoja al equipo de la derecha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otro equipo REVISA si el modelo está bien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encuentran un error, lo marcan y devuelven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2803475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equipo en tener modelo CORRECTO (validado por otro equipo) gana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70A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A: Juan's Café - Centro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café especial. Compra grano y hace mezclas.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12983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Supremo: $25.000/kg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Excelso: $18.000/kg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Grano Pasilla: $8.000/kg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Premium (60% Supremo + 40% Excelso): venta $35.000/kg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Mezcla Clásica (50% Excelso + 50% Pasilla): venta $20.000/kg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568178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704654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$2.000.000 | Espacio: 150 kg | Demanda máx: 80 kg Premium, 100 kg Clásica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3498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B: Rutas de Megabús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Asignar 10 buses disponibles a 3 rutas.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Cuba: ingreso $800.000/día/bus, necesita 2 conductores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Dosquebradas: $650.000/día/bus, necesita 2 conductores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Universidad: $900.000/día/bus, necesita 3 conductores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Mínimo 2 buses por ruta | 25 conductores disponibles | Maximizar ingresos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9B59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C: Tienda en Arboleda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 de ropa preparando inventario para temporada alta.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Camisetas: costo $15.000, venta $32.000 (ganancia $17.000)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Jeans: costo $35.000, venta $75.000 (ganancia $40.000)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Chaquetas: costo $50.000, venta $120.000 (ganancia $70.000)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$5.000.000 | Bodega: 300 uds | Máx: 150 camisetas, 100 jeans, 50 chaquetas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" y="0"/>
            <a:ext cx="0" cy="5143500"/>
          </a:xfrm>
          <a:prstGeom prst="line">
            <a:avLst/>
          </a:prstGeom>
          <a:noFill/>
          <a:ln w="9525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3200" y="317450"/>
            <a:ext cx="819350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Escenario D: Food Truck en la Circunvalar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03200" y="768251"/>
            <a:ext cx="819350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truck cerca de la UTP. Decide qué preparar cada día.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03200" y="1133326"/>
            <a:ext cx="8032849" cy="758726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Hamburguesa: costo $4.000, venta $12.000, 5 min preparar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Perro caliente: costo $2.500, venta $8.000, 3 min preparar</a:t>
            </a:r>
            <a:endParaRPr lang="en-US" sz="1500" dirty="0"/>
          </a:p>
          <a:p>
            <a:pPr algn="l" marL="127000" indent="-1270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Arepa rellena: costo $2.000, venta $6.000, 2 min preparar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3200" y="2028527"/>
            <a:ext cx="8032849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200" y="2165003"/>
            <a:ext cx="81935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Presupuesto: $300.000/día | Máx 120 productos | Jornada: 8 horas (480 min)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949452" y="1916162"/>
            <a:ext cx="126984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JUEGO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463105" y="2309813"/>
            <a:ext cx="430214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36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Cadena del Café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665809" y="2960638"/>
            <a:ext cx="38886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Negociación en cadena de suministro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5067300"/>
            <a:ext cx="9144000" cy="76200"/>
          </a:xfrm>
          <a:prstGeom prst="rect">
            <a:avLst/>
          </a:prstGeom>
          <a:solidFill>
            <a:srgbClr val="667C6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Preparación rápida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0" y="733276"/>
            <a:ext cx="9144000" cy="173355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Dividan los 3 equipos en nuevos roles: FINCA, TOSTADORA, TIENDA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va a una esquina del salón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FINCA arranca una hoja y la parte en ~20 pedacitos (son los 'kilos de café' que van a negociar)</a:t>
            </a:r>
            <a:endParaRPr lang="en-US" sz="1600" dirty="0"/>
          </a:p>
          <a:p>
            <a:pPr algn="l" marL="381000" indent="-3810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grupo saca otra hoja como REGISTRO de transacciones (anotan cada compra/venta)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07950" y="2593777"/>
            <a:ext cx="8128099" cy="1136452"/>
          </a:xfrm>
          <a:prstGeom prst="roundRect">
            <a:avLst>
              <a:gd name="adj" fmla="val 6705"/>
            </a:avLst>
          </a:prstGeom>
          <a:solidFill>
            <a:srgbClr val="FC9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1851" y="277147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FINCA: tiene 20 kilos (papelitos) por ronda. Costo producir: $5.000/kg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61851" y="305722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TOSTADORA: compra grano, tuesta. Costo tostar: $3.000/kg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61851" y="3342977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TIENDA: vende al final. Precio local: $18.000/kg | Export: $22.000/kg (máx 5 kg)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917525"/>
          </a:xfrm>
          <a:prstGeom prst="rect">
            <a:avLst/>
          </a:prstGeom>
          <a:noFill/>
          <a:ln/>
        </p:spPr>
        <p:txBody>
          <a:bodyPr wrap="square" lIns="508000" tIns="317500" rIns="508000" bIns="19050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Reglas de Negociación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0" y="917525"/>
            <a:ext cx="9144000" cy="2110680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 3 rondas de 3 minutos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negociar, UN miembro camina a la otra estación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Negocian precio y cantidad EN PERSONA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Anotan cada transacción en su hoja de registro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papelitos (kg) pasan de mano en mano físicamente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Tostadora SOLO puede vender lo que ya compró a la Finca</a:t>
            </a:r>
            <a:endParaRPr lang="en-US" sz="1600" dirty="0"/>
          </a:p>
          <a:p>
            <a:pPr algn="l" marL="381000" indent="-3810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final: cada estación suma ingresos - costos = GANANCIA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028206"/>
            <a:ext cx="9326880" cy="492026"/>
          </a:xfrm>
          <a:prstGeom prst="rect">
            <a:avLst/>
          </a:prstGeom>
          <a:noFill/>
          <a:ln/>
        </p:spPr>
        <p:txBody>
          <a:bodyPr wrap="square" lIns="508000" tIns="127000" rIns="508000" bIns="12700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estación con más ganancia gana 10 pts para su equipo original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733276"/>
          </a:xfrm>
          <a:prstGeom prst="rect">
            <a:avLst/>
          </a:prstGeom>
          <a:noFill/>
          <a:ln/>
        </p:spPr>
        <p:txBody>
          <a:bodyPr wrap="square" lIns="508000" tIns="254000" rIns="508000" bIns="1270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Reflexión Final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31763" y="796677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726" y="923627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estación fue el cuello de botella?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31763" y="1415504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726" y="1542455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¿Habría sido mejor cooperar que competir en precio?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31763" y="2034332"/>
            <a:ext cx="0" cy="492026"/>
          </a:xfrm>
          <a:prstGeom prst="line">
            <a:avLst/>
          </a:prstGeom>
          <a:noFill/>
          <a:ln w="47625">
            <a:solidFill>
              <a:srgbClr val="667C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726" y="2161282"/>
            <a:ext cx="7827657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escribe esto como modelo de PL?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2780258"/>
            <a:ext cx="8128099" cy="1244501"/>
          </a:xfrm>
          <a:prstGeom prst="roundRect">
            <a:avLst>
              <a:gd name="adj" fmla="val 8164"/>
            </a:avLst>
          </a:prstGeom>
          <a:solidFill>
            <a:srgbClr val="2C2C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61851" y="2983409"/>
            <a:ext cx="77727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C99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clase: MODELOS DE TRANSPORTE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1851" y="3326309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CF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Vamos a resolver exactamente este tipo de problemas con matemáticas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1851" y="3612059"/>
            <a:ext cx="77727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problema es una oportunidad de optimizar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 en Acción - Semana 5 Clase 2</dc:title>
  <dc:subject>PptxGenJS Presentation</dc:subject>
  <dc:creator>Administración de Operaciones 2</dc:creator>
  <cp:lastModifiedBy>Administración de Operaciones 2</cp:lastModifiedBy>
  <cp:revision>1</cp:revision>
  <dcterms:created xsi:type="dcterms:W3CDTF">2026-03-05T22:59:18Z</dcterms:created>
  <dcterms:modified xsi:type="dcterms:W3CDTF">2026-03-05T22:59:18Z</dcterms:modified>
</cp:coreProperties>
</file>