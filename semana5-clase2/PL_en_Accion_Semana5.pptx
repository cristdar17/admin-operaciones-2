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950" cy="5143500"/>
          </a:xfrm>
          <a:prstGeom prst="rect">
            <a:avLst/>
          </a:prstGeom>
          <a:solidFill>
            <a:srgbClr val="FC9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5150" y="1698575"/>
            <a:ext cx="514784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4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en Acción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65150" y="2606576"/>
            <a:ext cx="514784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2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Juegos para pensar como optimizadores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5150" y="3235226"/>
            <a:ext cx="51478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de Operaciones 2 • Semana 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FC9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638300"/>
            <a:ext cx="818713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¿Cuántas decisiones tomaste hoy antes de llegar a clase?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8701" y="2711351"/>
            <a:ext cx="8187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desayunar, qué ropa ponerte, qué ruta tomar...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58701" y="3282851"/>
            <a:ext cx="81871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se pueden optimizar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250" y="1427411"/>
            <a:ext cx="8483501" cy="644426"/>
          </a:xfrm>
          <a:prstGeom prst="roundRect">
            <a:avLst>
              <a:gd name="adj" fmla="val 19707"/>
            </a:avLst>
          </a:prstGeom>
          <a:solidFill>
            <a:srgbClr val="667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5050" y="1630561"/>
            <a:ext cx="80313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Objetivo → Maximizar o minimizar algo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0250" y="2249537"/>
            <a:ext cx="8483501" cy="644426"/>
          </a:xfrm>
          <a:prstGeom prst="roundRect">
            <a:avLst>
              <a:gd name="adj" fmla="val 19707"/>
            </a:avLst>
          </a:prstGeom>
          <a:solidFill>
            <a:srgbClr val="667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5050" y="2452688"/>
            <a:ext cx="80313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Decisión → Lo que controlamos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0250" y="3071664"/>
            <a:ext cx="8483501" cy="644426"/>
          </a:xfrm>
          <a:prstGeom prst="roundRect">
            <a:avLst>
              <a:gd name="adj" fmla="val 19707"/>
            </a:avLst>
          </a:prstGeom>
          <a:solidFill>
            <a:srgbClr val="667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050" y="3274814"/>
            <a:ext cx="80313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→ Los límites de la realidad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9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6025" y="1865263"/>
            <a:ext cx="531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16025" y="2284363"/>
            <a:ext cx="53119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en Movimiento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916025" y="3011388"/>
            <a:ext cx="5311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física de mercado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1639937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Escenario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2246263"/>
            <a:ext cx="81871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las 5 AM en la Galería Central de Pereira. Cada equipo es dueño de un puesto y tiene $500.000 COP para comprar productos y revender.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58701" y="3160663"/>
            <a:ext cx="81871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hay 3 proveedores en diferentes esquinas del salón...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474" y="1529060"/>
            <a:ext cx="8223052" cy="593527"/>
          </a:xfrm>
          <a:prstGeom prst="roundRect">
            <a:avLst>
              <a:gd name="adj" fmla="val 17118"/>
            </a:avLst>
          </a:prstGeom>
          <a:solidFill>
            <a:srgbClr val="3C3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08099" y="1529060"/>
            <a:ext cx="0" cy="593527"/>
          </a:xfrm>
          <a:prstGeom prst="line">
            <a:avLst/>
          </a:prstGeom>
          <a:noFill/>
          <a:ln w="95250">
            <a:solidFill>
              <a:srgbClr val="70AD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625" y="1706761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AGUACATE → Costo: $2.000 | Venta: $3.500 | Ganancia: $1.500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0474" y="2274987"/>
            <a:ext cx="8223052" cy="593527"/>
          </a:xfrm>
          <a:prstGeom prst="roundRect">
            <a:avLst>
              <a:gd name="adj" fmla="val 17118"/>
            </a:avLst>
          </a:prstGeom>
          <a:solidFill>
            <a:srgbClr val="3C3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099" y="2274987"/>
            <a:ext cx="0" cy="593527"/>
          </a:xfrm>
          <a:prstGeom prst="line">
            <a:avLst/>
          </a:prstGeom>
          <a:noFill/>
          <a:ln w="95250">
            <a:solidFill>
              <a:srgbClr val="FC9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625" y="2452688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 → Costo: $1.000 | Venta: $2.000 | Ganancia: $1.000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0474" y="3020913"/>
            <a:ext cx="8223052" cy="593527"/>
          </a:xfrm>
          <a:prstGeom prst="roundRect">
            <a:avLst>
              <a:gd name="adj" fmla="val 17118"/>
            </a:avLst>
          </a:prstGeom>
          <a:solidFill>
            <a:srgbClr val="3C3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8099" y="3020913"/>
            <a:ext cx="0" cy="593527"/>
          </a:xfrm>
          <a:prstGeom prst="line">
            <a:avLst/>
          </a:prstGeom>
          <a:noFill/>
          <a:ln w="95250">
            <a:solidFill>
              <a:srgbClr val="F1C4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625" y="3198614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PLÁTANO → Costo: $800 | Venta: $1.500 | Ganancia: $700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1151334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Restricciones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1757660"/>
            <a:ext cx="8026598" cy="660202"/>
          </a:xfrm>
          <a:prstGeom prst="roundRect">
            <a:avLst>
              <a:gd name="adj" fmla="val 15389"/>
            </a:avLst>
          </a:prstGeom>
          <a:solidFill>
            <a:srgbClr val="FCFC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6801" y="1757660"/>
            <a:ext cx="0" cy="660202"/>
          </a:xfrm>
          <a:prstGeom prst="line">
            <a:avLst/>
          </a:prstGeom>
          <a:noFill/>
          <a:ln w="76200">
            <a:solidFill>
              <a:srgbClr val="FC99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8802" y="1935361"/>
            <a:ext cx="75914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Presupuesto: $500.000 COP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8701" y="2544812"/>
            <a:ext cx="8026598" cy="660202"/>
          </a:xfrm>
          <a:prstGeom prst="roundRect">
            <a:avLst>
              <a:gd name="adj" fmla="val 15389"/>
            </a:avLst>
          </a:prstGeom>
          <a:solidFill>
            <a:srgbClr val="FCFC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6801" y="2544812"/>
            <a:ext cx="0" cy="660202"/>
          </a:xfrm>
          <a:prstGeom prst="line">
            <a:avLst/>
          </a:prstGeom>
          <a:noFill/>
          <a:ln w="76200">
            <a:solidFill>
              <a:srgbClr val="FC99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8802" y="2722513"/>
            <a:ext cx="75914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Espacio en puesto: 400 unidades (aguacate ocupa 2, el resto 1)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8701" y="3331964"/>
            <a:ext cx="8026598" cy="660202"/>
          </a:xfrm>
          <a:prstGeom prst="roundRect">
            <a:avLst>
              <a:gd name="adj" fmla="val 15389"/>
            </a:avLst>
          </a:prstGeom>
          <a:solidFill>
            <a:srgbClr val="FCFC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6801" y="3331964"/>
            <a:ext cx="0" cy="660202"/>
          </a:xfrm>
          <a:prstGeom prst="line">
            <a:avLst/>
          </a:prstGeom>
          <a:noFill/>
          <a:ln w="76200">
            <a:solidFill>
              <a:srgbClr val="FC99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8802" y="3509665"/>
            <a:ext cx="75914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Tiempo: 480 min (aguacate 3min, mango 2min, plátano 1min)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1390799"/>
            <a:ext cx="81871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juega?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58701" y="2054275"/>
            <a:ext cx="8026598" cy="1698427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3501" y="2054275"/>
            <a:ext cx="78762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Hay 3 estaciones en el salón (una por producto)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3501" y="2419350"/>
            <a:ext cx="78762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Cada equipo recibe billetes de papel ($500.000)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3501" y="2784425"/>
            <a:ext cx="78762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Deben ir CAMINANDO a cada estación a comprar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501" y="3149501"/>
            <a:ext cx="78762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 cada estación hay un ‘vendedor’ (compañero)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3501" y="3514576"/>
            <a:ext cx="787623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Solo pueden comprar de a una unidad por viaje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1390799"/>
            <a:ext cx="81871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Movimiento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58701" y="2054275"/>
            <a:ext cx="8026598" cy="1698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701" y="2054275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Cada viaje a Aguacates toma 3 pasos lentos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8701" y="2419350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Cada viaje a Mangos toma 2 pasos lentos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8701" y="2784425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Cada viaje a Plátanos toma 1 paso lento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701" y="3149501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Tienen exactamente 8 MINUTOS (= 480 min del modelo)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3514576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Al final cuentan ganancia total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9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20704" y="1709738"/>
            <a:ext cx="390244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¡A COMPRAR!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620704" y="2582763"/>
            <a:ext cx="39024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4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Tienen 8 minutos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620704" y="3138339"/>
            <a:ext cx="390244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con más ganancia gana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1257300"/>
            <a:ext cx="81871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 de pensar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58701" y="1895475"/>
            <a:ext cx="8187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escriban el modelo de PL de lo que acaban de vivir: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58701" y="2365325"/>
            <a:ext cx="8187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¿Cuáles son las variables?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58701" y="2758976"/>
            <a:ext cx="8187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¿Cuál es la función objetivo?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8701" y="3152626"/>
            <a:ext cx="8187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¿Cuáles son las restricciones?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8701" y="3647926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Tienen 5 minutos por equipo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1406723"/>
            <a:ext cx="81871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6801" y="1987748"/>
            <a:ext cx="0" cy="238125"/>
          </a:xfrm>
          <a:prstGeom prst="line">
            <a:avLst/>
          </a:prstGeom>
          <a:noFill/>
          <a:ln w="76200">
            <a:solidFill>
              <a:srgbClr val="667C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8051" y="1987748"/>
            <a:ext cx="79021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x₁=aguacates, x₂=mangos, x₃=plátanos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6801" y="2403574"/>
            <a:ext cx="0" cy="238125"/>
          </a:xfrm>
          <a:prstGeom prst="line">
            <a:avLst/>
          </a:prstGeom>
          <a:noFill/>
          <a:ln w="76200">
            <a:solidFill>
              <a:srgbClr val="667C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2403574"/>
            <a:ext cx="79021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Z = 1500x₁ + 1000x₂ + 700x₃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6801" y="2819400"/>
            <a:ext cx="0" cy="917377"/>
          </a:xfrm>
          <a:prstGeom prst="line">
            <a:avLst/>
          </a:prstGeom>
          <a:noFill/>
          <a:ln w="76200">
            <a:solidFill>
              <a:srgbClr val="667C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051" y="2819400"/>
            <a:ext cx="79021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2000x₁ + 1000x₂ + 800x₃ ≤ 500.000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051" y="3159026"/>
            <a:ext cx="79021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2x₁ + x₂ + x₃ ≤ 400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051" y="3498652"/>
            <a:ext cx="79021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3x₁ + 2x₂ + x₃ ≤ 480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67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1555" y="1865263"/>
            <a:ext cx="4120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511555" y="2284363"/>
            <a:ext cx="412089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Rompecabezas LP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511555" y="3011388"/>
            <a:ext cx="4120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las piezas por todo el salón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1403449"/>
            <a:ext cx="81871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58701" y="2041624"/>
            <a:ext cx="8026598" cy="1698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701" y="2041624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Hay tarjetas pegadas por TODO el salón (paredes, sillas, piso, ventanas)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8701" y="2406700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Cada tarjeta tiene una pieza: una variable, una F.O., o una restricción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8701" y="2771775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Cada equipo recibe un escenario diferente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701" y="3136850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Deben CORRER a buscar las piezas correctas para su modelo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3501926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¡Hay piezas falsas! (trampas que no sirven)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1349425"/>
            <a:ext cx="81871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Movimiento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58701" y="1987600"/>
            <a:ext cx="8026598" cy="133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8701" y="1987600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Solo un miembro del equipo puede ir a buscar a la vez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8701" y="2352675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Los demás arman el modelo en la mesa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8701" y="2717750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 traen una pieza incorrecta, deben devolverla y buscar otra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701" y="3082826"/>
            <a:ext cx="81871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Primer equipo en armar su modelo COMPLETO y CORRECTO gana bonus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701" y="3498652"/>
            <a:ext cx="818713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Tiempo: 10 minutos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5143500"/>
          </a:xfrm>
          <a:prstGeom prst="line">
            <a:avLst/>
          </a:prstGeom>
          <a:noFill/>
          <a:ln w="95250">
            <a:solidFill>
              <a:srgbClr val="70A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2450" y="1536799"/>
            <a:ext cx="82970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A: Juan's Café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2450" y="1987600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de café especial en el Centro de Pereira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2450" y="2378125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tipos de grano: Supremo ($25.000/kg), Excelso ($18.000/kg), Pasilla ($8.000/kg)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2450" y="2717750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 Premium (60% Supremo + 40% Excelso) → Venta: $35.000/kg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2450" y="3057376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 Clásica (50% Excelso + 50% Pasilla) → Venta: $20.000/kg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2450" y="3397002"/>
            <a:ext cx="82970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$2M | Espacio: 150kg | Demanda máx: 80kg Premium, 100kg Clásica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5143500"/>
          </a:xfrm>
          <a:prstGeom prst="line">
            <a:avLst/>
          </a:prstGeom>
          <a:noFill/>
          <a:ln w="9525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2450" y="1536799"/>
            <a:ext cx="82970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B: Rutas de Megabús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2450" y="1987600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10 buses a 3 rutas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2450" y="2378125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Cuba: $800.000/día/bus, 2 conductores/bus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2450" y="2717750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Dosquebradas: $650.000/día/bus, 2 conductores/bus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2450" y="3057376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Universidad: $900.000/día/bus, 3 conductores/bus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2450" y="3397002"/>
            <a:ext cx="82970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2 buses por ruta | 25 conductores disponibles | Maximizar ingresos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5143500"/>
          </a:xfrm>
          <a:prstGeom prst="line">
            <a:avLst/>
          </a:prstGeom>
          <a:noFill/>
          <a:ln w="9525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2450" y="1536799"/>
            <a:ext cx="82970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C: Tienda en Arboleda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2450" y="1987600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de ropa, temporada alta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2450" y="2378125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Camisetas: costo $15.000, venta $32.000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2450" y="2717750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Jeans: costo $35.000, venta $75.000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2450" y="3057376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Chaquetas: costo $50.000, venta $120.000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2450" y="3397002"/>
            <a:ext cx="82970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$5M | Bodega: 300 ud | Máx: 150 camisetas, 100 jeans, 50 chaquetas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5143500"/>
          </a:xfrm>
          <a:prstGeom prst="line">
            <a:avLst/>
          </a:prstGeom>
          <a:noFill/>
          <a:ln w="9525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2450" y="1536799"/>
            <a:ext cx="82970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D: Food Truck Circunvalar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2450" y="1987600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truck cerca de la UTP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2450" y="2378125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Hamburguesa: costo $4.000, venta $12.000, 5 min preparar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2450" y="2717750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Perro: costo $2.500, venta $8.000, 3 min preparar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2450" y="3057376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Arepa rellena: costo $2.000, venta $6.000, 2 min preparar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2450" y="3397002"/>
            <a:ext cx="82970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$300.000/día | Máx 120 productos | Jornada: 8 horas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"/>
            <a:ext cx="9144000" cy="0"/>
          </a:xfrm>
          <a:prstGeom prst="line">
            <a:avLst/>
          </a:prstGeom>
          <a:noFill/>
          <a:ln w="76200">
            <a:solidFill>
              <a:srgbClr val="FC99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66578" y="1631900"/>
            <a:ext cx="52106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66578" y="2101751"/>
            <a:ext cx="521069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Cadena del Café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966578" y="2854226"/>
            <a:ext cx="52106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salón se convierte en una cadena de suministro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66578" y="3273326"/>
            <a:ext cx="52106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Negocien. Muevan producto. Maximicen.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105400"/>
            <a:ext cx="9144000" cy="0"/>
          </a:xfrm>
          <a:prstGeom prst="line">
            <a:avLst/>
          </a:prstGeom>
          <a:noFill/>
          <a:ln w="76200">
            <a:solidFill>
              <a:srgbClr val="667C6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4246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81521"/>
            <a:ext cx="8229600" cy="117127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95300" y="981521"/>
            <a:ext cx="0" cy="1171277"/>
          </a:xfrm>
          <a:prstGeom prst="line">
            <a:avLst/>
          </a:prstGeom>
          <a:noFill/>
          <a:ln w="76200">
            <a:solidFill>
              <a:srgbClr val="70AD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1159222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ESTACIÓN 1: FINCA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1476673"/>
            <a:ext cx="78501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café. Vende grano a las tostadoras.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1765548"/>
            <a:ext cx="78501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Capacidad: 100 kg/ronda. Costo: $5.000/kg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79749"/>
            <a:ext cx="8229600" cy="117127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5300" y="2279749"/>
            <a:ext cx="0" cy="1171277"/>
          </a:xfrm>
          <a:prstGeom prst="line">
            <a:avLst/>
          </a:prstGeom>
          <a:noFill/>
          <a:ln w="76200">
            <a:solidFill>
              <a:srgbClr val="FC99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457450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ESTACIÓN 2: TOSTADORA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2774900"/>
            <a:ext cx="78501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grano, lo tuesta y vende a tiendas.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063776"/>
            <a:ext cx="78501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Capacidad: 60 kg/ronda. Costo tostado: $3.000/kg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577977"/>
            <a:ext cx="8229600" cy="117127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95300" y="3577977"/>
            <a:ext cx="0" cy="1171277"/>
          </a:xfrm>
          <a:prstGeom prst="line">
            <a:avLst/>
          </a:prstGeom>
          <a:noFill/>
          <a:ln w="76200">
            <a:solidFill>
              <a:srgbClr val="667C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" y="3755678"/>
            <a:ext cx="7850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667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ESTACIÓN 3: TIENDA / EXPORTADOR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4073128"/>
            <a:ext cx="78501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tostado y vende al consumidor.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362004"/>
            <a:ext cx="78501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local: $18.000/kg | Exportación: $22.000/kg (máx 30 kg)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85442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del Juego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467148"/>
            <a:ext cx="8128099" cy="227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467148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 forman 3 grupos: Fincas, Tostadoras, Tiendas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806773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Cada grupo va a su estación (esquina del salón)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2146399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Hay 4 rondas de 2 minutos cada una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486025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 cada ronda DEBEN caminar a la otra estación para negociar cantidad y precio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2825651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Solo pueden cargar 20 kg por viaje (un viaje = ir y volver)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316527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Al final de las 4 rondas, cada estación calcula su ganancia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950" y="3504902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La estación con más ganancia TOTAL gana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950" y="3869978"/>
            <a:ext cx="829066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¡OJO! Si la tostadora no compra grano, no puede vender. Si la tienda no compra tostado, no vende nada.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12862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del juego...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963662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fue el cuello de botella?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6050" y="1601837"/>
            <a:ext cx="0" cy="571500"/>
          </a:xfrm>
          <a:prstGeom prst="line">
            <a:avLst/>
          </a:prstGeom>
          <a:noFill/>
          <a:ln w="76200">
            <a:solidFill>
              <a:srgbClr val="667C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50" y="1754237"/>
            <a:ext cx="77465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estación limitó más a las demás?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6050" y="2300288"/>
            <a:ext cx="0" cy="571500"/>
          </a:xfrm>
          <a:prstGeom prst="line">
            <a:avLst/>
          </a:prstGeom>
          <a:noFill/>
          <a:ln w="76200">
            <a:solidFill>
              <a:srgbClr val="667C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750" y="2452688"/>
            <a:ext cx="77465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¿Habría sido mejor cooperar que competir?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6050" y="2998738"/>
            <a:ext cx="0" cy="571500"/>
          </a:xfrm>
          <a:prstGeom prst="line">
            <a:avLst/>
          </a:prstGeom>
          <a:noFill/>
          <a:ln w="76200">
            <a:solidFill>
              <a:srgbClr val="667C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3151138"/>
            <a:ext cx="77465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formularían esto como un modelo de PL?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950" y="3798838"/>
            <a:ext cx="8128099" cy="831652"/>
          </a:xfrm>
          <a:prstGeom prst="rect">
            <a:avLst/>
          </a:prstGeom>
          <a:solidFill>
            <a:srgbClr val="FC9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1851" y="3976539"/>
            <a:ext cx="777270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Spoiler: La próxima semana vemos MODELOS DE TRANSPORTE, que resuelven exactamente esto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1182737"/>
            <a:ext cx="81871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Gran Insight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01" y="1827163"/>
            <a:ext cx="81871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no es solo matemáticas...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58701" y="2277963"/>
            <a:ext cx="818713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forma de PENSAR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6801" y="2992338"/>
            <a:ext cx="0" cy="238125"/>
          </a:xfrm>
          <a:prstGeom prst="line">
            <a:avLst/>
          </a:prstGeom>
          <a:noFill/>
          <a:ln w="76200">
            <a:solidFill>
              <a:srgbClr val="667C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2992338"/>
            <a:ext cx="79021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estudiar para parciales? → Optimización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6801" y="3357414"/>
            <a:ext cx="0" cy="238125"/>
          </a:xfrm>
          <a:prstGeom prst="line">
            <a:avLst/>
          </a:prstGeom>
          <a:noFill/>
          <a:ln w="76200">
            <a:solidFill>
              <a:srgbClr val="667C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051" y="3357414"/>
            <a:ext cx="79021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gastar la mesada? → Restricciones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6801" y="3722489"/>
            <a:ext cx="0" cy="238125"/>
          </a:xfrm>
          <a:prstGeom prst="line">
            <a:avLst/>
          </a:prstGeom>
          <a:noFill/>
          <a:ln w="76200">
            <a:solidFill>
              <a:srgbClr val="667C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051" y="3722489"/>
            <a:ext cx="79021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negocio montar? → Función objetivo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950" cy="5143500"/>
          </a:xfrm>
          <a:prstGeom prst="rect">
            <a:avLst/>
          </a:prstGeom>
          <a:solidFill>
            <a:srgbClr val="FC9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5150" y="1673275"/>
            <a:ext cx="545221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Clase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5150" y="2286000"/>
            <a:ext cx="545221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6: Modelos de Transporte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5150" y="2787551"/>
            <a:ext cx="54522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 mover café desde el Eje Cafetero al mundo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5150" y="3231952"/>
            <a:ext cx="54522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problema es una oportunidad de optimizar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 en Acción - Semana 5 Clase 2</dc:title>
  <dc:subject>PptxGenJS Presentation</dc:subject>
  <dc:creator>Administración de Operaciones 2</dc:creator>
  <cp:lastModifiedBy>Administración de Operaciones 2</cp:lastModifiedBy>
  <cp:revision>1</cp:revision>
  <dcterms:created xsi:type="dcterms:W3CDTF">2026-03-05T22:40:00Z</dcterms:created>
  <dcterms:modified xsi:type="dcterms:W3CDTF">2026-03-05T22:40:00Z</dcterms:modified>
</cp:coreProperties>
</file>